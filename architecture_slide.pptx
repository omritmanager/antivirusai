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60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ארכיטקטורת המערכת — AntivirusAI V7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11460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i="1" dirty="0">
                <a:solidFill>
                  <a:srgbClr val="7A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מסלול סריקת קובץ בודד — מרגע קליטת הקובץ ועד ההחלטה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3576218" cy="749808"/>
          </a:xfrm>
          <a:prstGeom prst="roundRect">
            <a:avLst>
              <a:gd name="adj" fmla="val 8537"/>
            </a:avLst>
          </a:prstGeom>
          <a:solidFill>
            <a:srgbClr val="F3F7FE"/>
          </a:solidFill>
          <a:ln w="15875">
            <a:solidFill>
              <a:srgbClr val="1E2761"/>
            </a:solidFill>
            <a:prstDash val="solid"/>
          </a:ln>
        </p:spPr>
        <p:txBody>
          <a:bodyPr wrap="square" lIns="101600" tIns="127000" rIns="127000" bIns="10160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ראשי</a:t>
            </a:r>
            <a:endParaRPr lang="en-US" sz="12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חלון ניהול מלא · PySide6</a:t>
            </a:r>
            <a:endParaRPr lang="en-US" sz="1250" dirty="0"/>
          </a:p>
          <a:p>
            <a:pPr algn="r" indent="0" marL="0">
              <a:buNone/>
            </a:pPr>
            <a:r>
              <a:rPr lang="en-US" sz="800" i="1" dirty="0">
                <a:solidFill>
                  <a:srgbClr val="7A8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avscan/gui.py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307738" y="1024128"/>
            <a:ext cx="3576218" cy="749808"/>
          </a:xfrm>
          <a:prstGeom prst="roundRect">
            <a:avLst>
              <a:gd name="adj" fmla="val 8537"/>
            </a:avLst>
          </a:prstGeom>
          <a:solidFill>
            <a:srgbClr val="F3F7FE"/>
          </a:solidFill>
          <a:ln w="15875">
            <a:solidFill>
              <a:srgbClr val="1E2761"/>
            </a:solidFill>
            <a:prstDash val="solid"/>
          </a:ln>
        </p:spPr>
        <p:txBody>
          <a:bodyPr wrap="square" lIns="101600" tIns="127000" rIns="127000" bIns="10160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סריקה מהירה</a:t>
            </a:r>
            <a:endParaRPr lang="en-US" sz="12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 ימני · חלונית Tkinter</a:t>
            </a:r>
            <a:endParaRPr lang="en-US" sz="1250" dirty="0"/>
          </a:p>
          <a:p>
            <a:pPr algn="r" indent="0" marL="0">
              <a:buNone/>
            </a:pPr>
            <a:r>
              <a:rPr lang="en-US" sz="800" i="1" dirty="0">
                <a:solidFill>
                  <a:srgbClr val="7A8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avscan/quickscan.py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158277" y="1024128"/>
            <a:ext cx="3576218" cy="749808"/>
          </a:xfrm>
          <a:prstGeom prst="roundRect">
            <a:avLst>
              <a:gd name="adj" fmla="val 8537"/>
            </a:avLst>
          </a:prstGeom>
          <a:solidFill>
            <a:srgbClr val="F3F7FE"/>
          </a:solidFill>
          <a:ln w="15875">
            <a:solidFill>
              <a:srgbClr val="1E2761"/>
            </a:solidFill>
            <a:prstDash val="solid"/>
          </a:ln>
        </p:spPr>
        <p:txBody>
          <a:bodyPr wrap="square" lIns="101600" tIns="127000" rIns="127000" bIns="10160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2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סריקה משורת הפקודה</a:t>
            </a:r>
            <a:endParaRPr lang="en-US" sz="1250" dirty="0"/>
          </a:p>
          <a:p>
            <a:pPr algn="r" indent="0" marL="0">
              <a:buNone/>
            </a:pPr>
            <a:r>
              <a:rPr lang="en-US" sz="800" i="1" dirty="0">
                <a:solidFill>
                  <a:srgbClr val="7A8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avscan/cli.py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45309" y="1773936"/>
            <a:ext cx="0" cy="25603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95848" y="1773936"/>
            <a:ext cx="0" cy="25603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946386" y="1773936"/>
            <a:ext cx="0" cy="25603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57200" y="2029968"/>
            <a:ext cx="11277295" cy="502920"/>
          </a:xfrm>
          <a:prstGeom prst="roundRect">
            <a:avLst>
              <a:gd name="adj" fmla="val 12727"/>
            </a:avLst>
          </a:prstGeom>
          <a:solidFill>
            <a:srgbClr val="F3F7FE"/>
          </a:solidFill>
          <a:ln w="15875">
            <a:solidFill>
              <a:srgbClr val="1E2761"/>
            </a:solidFill>
            <a:prstDash val="solid"/>
          </a:ln>
        </p:spPr>
        <p:txBody>
          <a:bodyPr wrap="square" lIns="101600" tIns="127000" rIns="127000" bIns="10160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סורק את התיקייה, מפעיל whitelist, ומתאם את שלוש שכבות הבדיקה עבור כל קובץ</a:t>
            </a:r>
            <a:endParaRPr lang="en-US" sz="1300" dirty="0"/>
          </a:p>
          <a:p>
            <a:pPr algn="r" indent="0" marL="0">
              <a:buNone/>
            </a:pPr>
            <a:r>
              <a:rPr lang="en-US" sz="800" i="1" dirty="0">
                <a:solidFill>
                  <a:srgbClr val="7A8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avscan/orchestrator.py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45309" y="2532888"/>
            <a:ext cx="0" cy="27432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95848" y="2532888"/>
            <a:ext cx="0" cy="27432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946386" y="2532888"/>
            <a:ext cx="0" cy="27432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78328" y="2551176"/>
            <a:ext cx="603504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078328" y="255117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i="1" dirty="0">
                <a:solidFill>
                  <a:srgbClr val="7A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שלוש שכבות בדיקה עצמאיות — רצות על כל קובץ, ואף אחת אינה משנה את השנייה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807208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F3F7FE"/>
          </a:solidFill>
          <a:ln w="15875">
            <a:solidFill>
              <a:srgbClr val="1E2761"/>
            </a:solidFill>
            <a:prstDash val="solid"/>
          </a:ln>
        </p:spPr>
        <p:txBody>
          <a:bodyPr wrap="square" lIns="101600" tIns="127000" rIns="127000" bIns="10160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מנוע ML</a:t>
            </a:r>
            <a:endParaRPr lang="en-US" sz="12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v2 · 2,381 מאפיינים</a:t>
            </a:r>
            <a:endParaRPr lang="en-US" sz="1250" dirty="0"/>
          </a:p>
          <a:p>
            <a:pPr rtl="1" algn="r" indent="0" marL="0">
              <a:buNone/>
            </a:pPr>
            <a:r>
              <a:rPr lang="en-US" sz="9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→ MALWARE / SAFE / ERROR</a:t>
            </a:r>
            <a:endParaRPr lang="en-US" sz="1250" dirty="0"/>
          </a:p>
          <a:p>
            <a:pPr rtl="1" algn="r" indent="0" marL="0">
              <a:buNone/>
            </a:pPr>
            <a:r>
              <a:rPr lang="en-US" sz="9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סף החלטה: 0.225</a:t>
            </a:r>
            <a:endParaRPr lang="en-US" sz="1250" dirty="0"/>
          </a:p>
          <a:p>
            <a:pPr algn="r" indent="0" marL="0">
              <a:buNone/>
            </a:pPr>
            <a:r>
              <a:rPr lang="en-US" sz="800" i="1" dirty="0">
                <a:solidFill>
                  <a:srgbClr val="7A8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avscan/engine.py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07738" y="2807208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F3F7FE"/>
          </a:solidFill>
          <a:ln w="15875">
            <a:solidFill>
              <a:srgbClr val="1E2761"/>
            </a:solidFill>
            <a:prstDash val="solid"/>
          </a:ln>
        </p:spPr>
        <p:txBody>
          <a:bodyPr wrap="square" lIns="101600" tIns="127000" rIns="127000" bIns="10160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השוואת Hash</a:t>
            </a:r>
            <a:endParaRPr lang="en-US" sz="12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מול מאגר נוזקות ידועות</a:t>
            </a:r>
            <a:endParaRPr lang="en-US" sz="1250" dirty="0"/>
          </a:p>
          <a:p>
            <a:pPr rtl="1" algn="r" indent="0" marL="0">
              <a:buNone/>
            </a:pPr>
            <a:r>
              <a:rPr lang="en-US" sz="9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(baseline.sqlite)</a:t>
            </a:r>
            <a:endParaRPr lang="en-US" sz="1250" dirty="0"/>
          </a:p>
          <a:p>
            <a:pPr algn="r" indent="0" marL="0">
              <a:buNone/>
            </a:pPr>
            <a:r>
              <a:rPr lang="en-US" sz="800" i="1" dirty="0">
                <a:solidFill>
                  <a:srgbClr val="7A8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avscan/hashdb.py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58277" y="2807208"/>
            <a:ext cx="3576218" cy="960120"/>
          </a:xfrm>
          <a:prstGeom prst="roundRect">
            <a:avLst>
              <a:gd name="adj" fmla="val 6667"/>
            </a:avLst>
          </a:prstGeom>
          <a:solidFill>
            <a:srgbClr val="F3F7FE"/>
          </a:solidFill>
          <a:ln w="15875">
            <a:solidFill>
              <a:srgbClr val="1E2761"/>
            </a:solidFill>
            <a:prstDash val="solid"/>
          </a:ln>
        </p:spPr>
        <p:txBody>
          <a:bodyPr wrap="square" lIns="101600" tIns="127000" rIns="127000" bIns="10160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חתימה דיגיטלית</a:t>
            </a:r>
            <a:endParaRPr lang="en-US" sz="12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Authenticode מול מאגר האמון</a:t>
            </a:r>
            <a:endParaRPr lang="en-US" sz="1250" dirty="0"/>
          </a:p>
          <a:p>
            <a:pPr rtl="1" algn="r" indent="0" marL="0">
              <a:buNone/>
            </a:pPr>
            <a:r>
              <a:rPr lang="en-US" sz="9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 Windows · מציל MALWARE חתום</a:t>
            </a:r>
            <a:endParaRPr lang="en-US" sz="1250" dirty="0"/>
          </a:p>
          <a:p>
            <a:pPr rtl="1" algn="r" indent="0" marL="0">
              <a:buNone/>
            </a:pPr>
            <a:r>
              <a:rPr lang="en-US" sz="9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(למעט התאמת hash ודאית)</a:t>
            </a:r>
            <a:endParaRPr lang="en-US" sz="1250" dirty="0"/>
          </a:p>
          <a:p>
            <a:pPr algn="r" indent="0" marL="0">
              <a:buNone/>
            </a:pPr>
            <a:r>
              <a:rPr lang="en-US" sz="800" i="1" dirty="0">
                <a:solidFill>
                  <a:srgbClr val="7A8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avscan/signature.py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245309" y="3767328"/>
            <a:ext cx="0" cy="15636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5848" y="3767328"/>
            <a:ext cx="0" cy="15636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46386" y="3767328"/>
            <a:ext cx="0" cy="156362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5309" y="3923690"/>
            <a:ext cx="7701077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5848" y="3923690"/>
            <a:ext cx="0" cy="19111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078328" y="4114800"/>
            <a:ext cx="6035040" cy="685800"/>
          </a:xfrm>
          <a:prstGeom prst="roundRect">
            <a:avLst>
              <a:gd name="adj" fmla="val 9333"/>
            </a:avLst>
          </a:prstGeom>
          <a:solidFill>
            <a:srgbClr val="F3F7FE"/>
          </a:solidFill>
          <a:ln w="15875">
            <a:solidFill>
              <a:srgbClr val="1E2761"/>
            </a:solidFill>
            <a:prstDash val="dash"/>
          </a:ln>
        </p:spPr>
        <p:txBody>
          <a:bodyPr wrap="square" lIns="101600" tIns="127000" rIns="127000" bIns="10160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שכבת הסבר (אופציונלי)</a:t>
            </a:r>
            <a:endParaRPr lang="en-US" sz="125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לקבצים חשודים בלבד: evidence מקומי + קריאת Gemini API לניסוח הסבר בעברית. תוכן הקובץ עצמו לעולם אינו נשלח החוצה.</a:t>
            </a:r>
            <a:endParaRPr lang="en-US" sz="1250" dirty="0"/>
          </a:p>
          <a:p>
            <a:pPr algn="r" indent="0" marL="0">
              <a:buNone/>
            </a:pPr>
            <a:r>
              <a:rPr lang="en-US" sz="800" i="1" dirty="0">
                <a:solidFill>
                  <a:srgbClr val="7A8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avscan/explain.py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95848" y="4800600"/>
            <a:ext cx="0" cy="139903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62224" y="4940503"/>
            <a:ext cx="5867248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62224" y="4940503"/>
            <a:ext cx="0" cy="170993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29471" y="4940503"/>
            <a:ext cx="0" cy="170993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57200" y="5111496"/>
            <a:ext cx="5410048" cy="777240"/>
          </a:xfrm>
          <a:prstGeom prst="roundRect">
            <a:avLst>
              <a:gd name="adj" fmla="val 8235"/>
            </a:avLst>
          </a:prstGeom>
          <a:solidFill>
            <a:srgbClr val="C81D3A"/>
          </a:solidFill>
          <a:ln w="15875">
            <a:solidFill>
              <a:srgbClr val="C81D3A"/>
            </a:solidFill>
            <a:prstDash val="solid"/>
          </a:ln>
        </p:spPr>
        <p:txBody>
          <a:bodyPr wrap="square" lIns="101600" tIns="127000" rIns="127000" bIns="10160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הסגר (Quarantine)</a:t>
            </a:r>
            <a:endParaRPr lang="en-US" sz="12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F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XOR-neutralize + העברה לקבצים מסומנים —</a:t>
            </a:r>
            <a:endParaRPr lang="en-US" sz="1250" dirty="0"/>
          </a:p>
          <a:p>
            <a:pPr rtl="1" algn="r" indent="0" marL="0">
              <a:buNone/>
            </a:pPr>
            <a:r>
              <a:rPr lang="en-US" sz="950" dirty="0">
                <a:solidFill>
                  <a:srgbClr val="FF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כולל ERROR, לפי מדיניות fail-closed</a:t>
            </a:r>
            <a:endParaRPr lang="en-US" sz="1250" dirty="0"/>
          </a:p>
          <a:p>
            <a:pPr algn="r" indent="0" marL="0">
              <a:buNone/>
            </a:pPr>
            <a:r>
              <a:rPr lang="en-US" sz="800" i="1" dirty="0">
                <a:solidFill>
                  <a:srgbClr val="FFE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avscan/quarantine.py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24448" y="5111496"/>
            <a:ext cx="5410048" cy="777240"/>
          </a:xfrm>
          <a:prstGeom prst="roundRect">
            <a:avLst>
              <a:gd name="adj" fmla="val 8235"/>
            </a:avLst>
          </a:prstGeom>
          <a:solidFill>
            <a:srgbClr val="F3F7FE"/>
          </a:solidFill>
          <a:ln w="15875">
            <a:solidFill>
              <a:srgbClr val="1E2761"/>
            </a:solidFill>
            <a:prstDash val="solid"/>
          </a:ln>
        </p:spPr>
        <p:txBody>
          <a:bodyPr wrap="square" lIns="101600" tIns="127000" rIns="127000" bIns="10160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דוח + תצוגה</a:t>
            </a:r>
            <a:endParaRPr lang="en-US" sz="12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יצירת JSON report וחזרה</a:t>
            </a:r>
            <a:endParaRPr lang="en-US" sz="1250" dirty="0"/>
          </a:p>
          <a:p>
            <a:pPr rtl="1" algn="r" indent="0" marL="0">
              <a:buNone/>
            </a:pPr>
            <a:r>
              <a:rPr lang="en-US" sz="9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לממשק המשתמש (GUI / Quick Scan)</a:t>
            </a:r>
            <a:endParaRPr lang="en-US" sz="1250" dirty="0"/>
          </a:p>
          <a:p>
            <a:pPr algn="r" indent="0" marL="0">
              <a:buNone/>
            </a:pPr>
            <a:r>
              <a:rPr lang="en-US" sz="800" i="1" dirty="0">
                <a:solidFill>
                  <a:srgbClr val="7A8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avscan/report.py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01675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i="1" dirty="0">
                <a:solidFill>
                  <a:srgbClr val="7A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מדיניות fail-closed: קובץ שלא ניתן היה לנתח (ERROR) מטופל בכל שכבות המערכת בדיוק כמו MALWARE.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2026-08-18T17:46:33Z</dcterms:created>
  <dcterms:modified xsi:type="dcterms:W3CDTF">2026-08-18T17:46:33Z</dcterms:modified>
</cp:coreProperties>
</file>